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16762343" r:id="rId4"/>
    <p:sldId id="16762368" r:id="rId5"/>
    <p:sldId id="16762369" r:id="rId6"/>
    <p:sldId id="16762370" r:id="rId7"/>
    <p:sldId id="16762371" r:id="rId8"/>
    <p:sldId id="16762372" r:id="rId9"/>
    <p:sldId id="16762373" r:id="rId10"/>
    <p:sldId id="16762374" r:id="rId11"/>
    <p:sldId id="271" r:id="rId12"/>
  </p:sldIdLst>
  <p:sldSz cx="12192000" cy="6858000"/>
  <p:notesSz cx="6858000" cy="9144000"/>
  <p:custDataLst>
    <p:tags r:id="rId17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思源黑体 Light"/>
        <a:ea typeface="思源黑体 Light"/>
        <a:cs typeface="思源黑体 Light"/>
        <a:sym typeface="思源黑体 Light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思源黑体 Light"/>
        <a:ea typeface="思源黑体 Light"/>
        <a:cs typeface="思源黑体 Light"/>
        <a:sym typeface="思源黑体 Light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思源黑体 Light"/>
        <a:ea typeface="思源黑体 Light"/>
        <a:cs typeface="思源黑体 Light"/>
        <a:sym typeface="思源黑体 Light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思源黑体 Light"/>
        <a:ea typeface="思源黑体 Light"/>
        <a:cs typeface="思源黑体 Light"/>
        <a:sym typeface="思源黑体 Light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思源黑体 Light"/>
        <a:ea typeface="思源黑体 Light"/>
        <a:cs typeface="思源黑体 Light"/>
        <a:sym typeface="思源黑体 Light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思源黑体 Light"/>
        <a:ea typeface="思源黑体 Light"/>
        <a:cs typeface="思源黑体 Light"/>
        <a:sym typeface="思源黑体 Light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思源黑体 Light"/>
        <a:ea typeface="思源黑体 Light"/>
        <a:cs typeface="思源黑体 Light"/>
        <a:sym typeface="思源黑体 Light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思源黑体 Light"/>
        <a:ea typeface="思源黑体 Light"/>
        <a:cs typeface="思源黑体 Light"/>
        <a:sym typeface="思源黑体 Light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思源黑体 Light"/>
        <a:ea typeface="思源黑体 Light"/>
        <a:cs typeface="思源黑体 Light"/>
        <a:sym typeface="思源黑体 Light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124" y="68"/>
      </p:cViewPr>
      <p:guideLst>
        <p:guide orient="horz" pos="2122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Relationship Id="rId17" Type="http://schemas.openxmlformats.org/officeDocument/2006/relationships/tags" Target="tags/tag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5" name="Shape 5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 panose="020F0502020204030204"/>
      </a:defRPr>
    </a:lvl1pPr>
    <a:lvl2pPr indent="228600" latinLnBrk="0">
      <a:defRPr sz="1200">
        <a:latin typeface="+mj-lt"/>
        <a:ea typeface="+mj-ea"/>
        <a:cs typeface="+mj-cs"/>
        <a:sym typeface="Calibri" panose="020F0502020204030204"/>
      </a:defRPr>
    </a:lvl2pPr>
    <a:lvl3pPr indent="457200" latinLnBrk="0">
      <a:defRPr sz="1200">
        <a:latin typeface="+mj-lt"/>
        <a:ea typeface="+mj-ea"/>
        <a:cs typeface="+mj-cs"/>
        <a:sym typeface="Calibri" panose="020F0502020204030204"/>
      </a:defRPr>
    </a:lvl3pPr>
    <a:lvl4pPr indent="685800" latinLnBrk="0">
      <a:defRPr sz="1200">
        <a:latin typeface="+mj-lt"/>
        <a:ea typeface="+mj-ea"/>
        <a:cs typeface="+mj-cs"/>
        <a:sym typeface="Calibri" panose="020F0502020204030204"/>
      </a:defRPr>
    </a:lvl4pPr>
    <a:lvl5pPr indent="914400" latinLnBrk="0">
      <a:defRPr sz="1200">
        <a:latin typeface="+mj-lt"/>
        <a:ea typeface="+mj-ea"/>
        <a:cs typeface="+mj-cs"/>
        <a:sym typeface="Calibri" panose="020F0502020204030204"/>
      </a:defRPr>
    </a:lvl5pPr>
    <a:lvl6pPr indent="1143000" latinLnBrk="0">
      <a:defRPr sz="1200">
        <a:latin typeface="+mj-lt"/>
        <a:ea typeface="+mj-ea"/>
        <a:cs typeface="+mj-cs"/>
        <a:sym typeface="Calibri" panose="020F0502020204030204"/>
      </a:defRPr>
    </a:lvl6pPr>
    <a:lvl7pPr indent="1371600" latinLnBrk="0">
      <a:defRPr sz="1200">
        <a:latin typeface="+mj-lt"/>
        <a:ea typeface="+mj-ea"/>
        <a:cs typeface="+mj-cs"/>
        <a:sym typeface="Calibri" panose="020F0502020204030204"/>
      </a:defRPr>
    </a:lvl7pPr>
    <a:lvl8pPr indent="1600200" latinLnBrk="0">
      <a:defRPr sz="1200">
        <a:latin typeface="+mj-lt"/>
        <a:ea typeface="+mj-ea"/>
        <a:cs typeface="+mj-cs"/>
        <a:sym typeface="Calibri" panose="020F0502020204030204"/>
      </a:defRPr>
    </a:lvl8pPr>
    <a:lvl9pPr indent="1828800" latinLnBrk="0">
      <a:defRPr sz="1200">
        <a:latin typeface="+mj-lt"/>
        <a:ea typeface="+mj-ea"/>
        <a:cs typeface="+mj-cs"/>
        <a:sym typeface="Calibri" panose="020F05020202040302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4"/>
          <p:cNvSpPr txBox="1"/>
          <p:nvPr/>
        </p:nvSpPr>
        <p:spPr>
          <a:xfrm>
            <a:off x="3010751" y="3367444"/>
            <a:ext cx="362211" cy="12700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100">
                <a:solidFill>
                  <a:srgbClr val="000000">
                    <a:alpha val="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t>行业PPT模板http://www.1ppt.com/hangye/</a:t>
            </a:r>
          </a:p>
        </p:txBody>
      </p:sp>
      <p:sp>
        <p:nvSpPr>
          <p:cNvPr id="31" name="TextBox 8"/>
          <p:cNvSpPr txBox="1"/>
          <p:nvPr/>
        </p:nvSpPr>
        <p:spPr>
          <a:xfrm>
            <a:off x="7555346" y="2215276"/>
            <a:ext cx="448621" cy="12700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100">
                <a:solidFill>
                  <a:srgbClr val="000000">
                    <a:alpha val="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行业PPT模板</a:t>
            </a:r>
            <a:r>
              <a:t>http://www.1ppt.com/hangye/</a:t>
            </a:r>
          </a:p>
        </p:txBody>
      </p:sp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SzTx/>
              <a:buFontTx/>
              <a:buNone/>
              <a:defRPr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  <a:lvl2pPr marL="0" indent="457200">
              <a:buSzTx/>
              <a:buFontTx/>
              <a:buNone/>
              <a:defRPr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2pPr>
            <a:lvl3pPr marL="0" indent="914400">
              <a:buSzTx/>
              <a:buFontTx/>
              <a:buNone/>
              <a:defRPr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3pPr>
            <a:lvl4pPr marL="0" indent="1371600">
              <a:buSzTx/>
              <a:buFontTx/>
              <a:buNone/>
              <a:defRPr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4pPr>
            <a:lvl5pPr marL="0" indent="1828800">
              <a:buSzTx/>
              <a:buFontTx/>
              <a:buNone/>
              <a:defRPr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610600" y="6356350"/>
            <a:ext cx="358413" cy="370840"/>
          </a:xfrm>
          <a:prstGeom prst="rect">
            <a:avLst/>
          </a:prstGeom>
        </p:spPr>
        <p:txBody>
          <a:bodyPr anchor="t"/>
          <a:lstStyle>
            <a:lvl1pPr algn="l">
              <a:defRPr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5987-9647-4253-899C-3B9819D6D8A0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5"/>
          <p:cNvSpPr/>
          <p:nvPr/>
        </p:nvSpPr>
        <p:spPr>
          <a:xfrm flipH="1">
            <a:off x="-3" y="6595585"/>
            <a:ext cx="12192003" cy="288900"/>
          </a:xfrm>
          <a:prstGeom prst="rect">
            <a:avLst/>
          </a:prstGeom>
          <a:solidFill>
            <a:srgbClr val="445BE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p:txBody>
      </p:sp>
      <p:sp>
        <p:nvSpPr>
          <p:cNvPr id="3" name="直接连接符 8"/>
          <p:cNvSpPr/>
          <p:nvPr/>
        </p:nvSpPr>
        <p:spPr>
          <a:xfrm>
            <a:off x="1166546" y="860527"/>
            <a:ext cx="734336" cy="1"/>
          </a:xfrm>
          <a:prstGeom prst="line">
            <a:avLst/>
          </a:prstGeom>
          <a:ln w="19050">
            <a:solidFill>
              <a:srgbClr val="4665ED"/>
            </a:solidFill>
            <a:miter/>
          </a:ln>
        </p:spPr>
        <p:txBody>
          <a:bodyPr lIns="45719" rIns="45719"/>
          <a:lstStyle/>
          <a:p/>
        </p:txBody>
      </p:sp>
      <p:pic>
        <p:nvPicPr>
          <p:cNvPr id="4" name="图片 9" descr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51" y="306664"/>
            <a:ext cx="615008" cy="61500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任意多边形: 形状 11"/>
          <p:cNvSpPr/>
          <p:nvPr/>
        </p:nvSpPr>
        <p:spPr>
          <a:xfrm flipH="1">
            <a:off x="11100062" y="5871214"/>
            <a:ext cx="807838" cy="555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904" y="15845"/>
                </a:moveTo>
                <a:lnTo>
                  <a:pt x="3923" y="18724"/>
                </a:lnTo>
                <a:lnTo>
                  <a:pt x="5904" y="21600"/>
                </a:lnTo>
                <a:close/>
                <a:moveTo>
                  <a:pt x="13751" y="15845"/>
                </a:moveTo>
                <a:lnTo>
                  <a:pt x="11772" y="18724"/>
                </a:lnTo>
                <a:lnTo>
                  <a:pt x="13751" y="21600"/>
                </a:lnTo>
                <a:close/>
                <a:moveTo>
                  <a:pt x="21600" y="15845"/>
                </a:moveTo>
                <a:lnTo>
                  <a:pt x="19622" y="18724"/>
                </a:lnTo>
                <a:lnTo>
                  <a:pt x="21600" y="21600"/>
                </a:lnTo>
                <a:close/>
                <a:moveTo>
                  <a:pt x="1978" y="11847"/>
                </a:moveTo>
                <a:lnTo>
                  <a:pt x="0" y="14775"/>
                </a:lnTo>
                <a:lnTo>
                  <a:pt x="1978" y="17651"/>
                </a:lnTo>
                <a:close/>
                <a:moveTo>
                  <a:pt x="9828" y="11847"/>
                </a:moveTo>
                <a:lnTo>
                  <a:pt x="7849" y="14775"/>
                </a:lnTo>
                <a:lnTo>
                  <a:pt x="9828" y="17651"/>
                </a:lnTo>
                <a:close/>
                <a:moveTo>
                  <a:pt x="17677" y="11847"/>
                </a:moveTo>
                <a:lnTo>
                  <a:pt x="15696" y="14775"/>
                </a:lnTo>
                <a:lnTo>
                  <a:pt x="17677" y="17651"/>
                </a:lnTo>
                <a:close/>
                <a:moveTo>
                  <a:pt x="5904" y="7898"/>
                </a:moveTo>
                <a:lnTo>
                  <a:pt x="3923" y="10777"/>
                </a:lnTo>
                <a:lnTo>
                  <a:pt x="5904" y="13702"/>
                </a:lnTo>
                <a:close/>
                <a:moveTo>
                  <a:pt x="13751" y="7898"/>
                </a:moveTo>
                <a:lnTo>
                  <a:pt x="11772" y="10777"/>
                </a:lnTo>
                <a:lnTo>
                  <a:pt x="13751" y="13702"/>
                </a:lnTo>
                <a:close/>
                <a:moveTo>
                  <a:pt x="21600" y="7898"/>
                </a:moveTo>
                <a:lnTo>
                  <a:pt x="19622" y="10777"/>
                </a:lnTo>
                <a:lnTo>
                  <a:pt x="21600" y="13702"/>
                </a:lnTo>
                <a:close/>
                <a:moveTo>
                  <a:pt x="1978" y="3949"/>
                </a:moveTo>
                <a:lnTo>
                  <a:pt x="0" y="6828"/>
                </a:lnTo>
                <a:lnTo>
                  <a:pt x="1978" y="9704"/>
                </a:lnTo>
                <a:close/>
                <a:moveTo>
                  <a:pt x="9828" y="3949"/>
                </a:moveTo>
                <a:lnTo>
                  <a:pt x="7849" y="6828"/>
                </a:lnTo>
                <a:lnTo>
                  <a:pt x="9828" y="9704"/>
                </a:lnTo>
                <a:close/>
                <a:moveTo>
                  <a:pt x="17677" y="3949"/>
                </a:moveTo>
                <a:lnTo>
                  <a:pt x="15696" y="6828"/>
                </a:lnTo>
                <a:lnTo>
                  <a:pt x="17677" y="9704"/>
                </a:lnTo>
                <a:close/>
                <a:moveTo>
                  <a:pt x="5904" y="0"/>
                </a:moveTo>
                <a:lnTo>
                  <a:pt x="3923" y="2876"/>
                </a:lnTo>
                <a:lnTo>
                  <a:pt x="5904" y="5755"/>
                </a:lnTo>
                <a:close/>
                <a:moveTo>
                  <a:pt x="13751" y="0"/>
                </a:moveTo>
                <a:lnTo>
                  <a:pt x="11772" y="2876"/>
                </a:lnTo>
                <a:lnTo>
                  <a:pt x="13751" y="5755"/>
                </a:lnTo>
                <a:close/>
                <a:moveTo>
                  <a:pt x="21600" y="0"/>
                </a:moveTo>
                <a:lnTo>
                  <a:pt x="19622" y="2876"/>
                </a:lnTo>
                <a:lnTo>
                  <a:pt x="21600" y="5755"/>
                </a:lnTo>
                <a:close/>
              </a:path>
            </a:pathLst>
          </a:custGeom>
          <a:solidFill>
            <a:srgbClr val="4665ED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p:txBody>
      </p:sp>
      <p:pic>
        <p:nvPicPr>
          <p:cNvPr id="6" name="图片 2" descr="图片 2"/>
          <p:cNvPicPr>
            <a:picLocks noChangeAspect="1"/>
          </p:cNvPicPr>
          <p:nvPr/>
        </p:nvPicPr>
        <p:blipFill>
          <a:blip r:embed="rId6"/>
          <a:srcRect t="26137" b="28334"/>
          <a:stretch>
            <a:fillRect/>
          </a:stretch>
        </p:blipFill>
        <p:spPr>
          <a:xfrm>
            <a:off x="8293393" y="213175"/>
            <a:ext cx="3898606" cy="61500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" name="标题文本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标题文本</a:t>
            </a:r>
          </a:p>
        </p:txBody>
      </p:sp>
      <p:sp>
        <p:nvSpPr>
          <p:cNvPr id="8" name="正文级别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思源黑体 Medium"/>
          <a:ea typeface="思源黑体 Medium"/>
          <a:cs typeface="思源黑体 Medium"/>
          <a:sym typeface="思源黑体 Medium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思源黑体 Medium"/>
          <a:ea typeface="思源黑体 Medium"/>
          <a:cs typeface="思源黑体 Medium"/>
          <a:sym typeface="思源黑体 Medium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思源黑体 Medium"/>
          <a:ea typeface="思源黑体 Medium"/>
          <a:cs typeface="思源黑体 Medium"/>
          <a:sym typeface="思源黑体 Medium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思源黑体 Medium"/>
          <a:ea typeface="思源黑体 Medium"/>
          <a:cs typeface="思源黑体 Medium"/>
          <a:sym typeface="思源黑体 Medium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思源黑体 Medium"/>
          <a:ea typeface="思源黑体 Medium"/>
          <a:cs typeface="思源黑体 Medium"/>
          <a:sym typeface="思源黑体 Medium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思源黑体 Medium"/>
          <a:ea typeface="思源黑体 Medium"/>
          <a:cs typeface="思源黑体 Medium"/>
          <a:sym typeface="思源黑体 Medium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思源黑体 Medium"/>
          <a:ea typeface="思源黑体 Medium"/>
          <a:cs typeface="思源黑体 Medium"/>
          <a:sym typeface="思源黑体 Medium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思源黑体 Medium"/>
          <a:ea typeface="思源黑体 Medium"/>
          <a:cs typeface="思源黑体 Medium"/>
          <a:sym typeface="思源黑体 Medium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思源黑体 Medium"/>
          <a:ea typeface="思源黑体 Medium"/>
          <a:cs typeface="思源黑体 Medium"/>
          <a:sym typeface="思源黑体 Medium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7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思源黑体 Light"/>
          <a:ea typeface="思源黑体 Light"/>
          <a:cs typeface="思源黑体 Light"/>
          <a:sym typeface="思源黑体 Light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7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思源黑体 Light"/>
          <a:ea typeface="思源黑体 Light"/>
          <a:cs typeface="思源黑体 Light"/>
          <a:sym typeface="思源黑体 Light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7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思源黑体 Light"/>
          <a:ea typeface="思源黑体 Light"/>
          <a:cs typeface="思源黑体 Light"/>
          <a:sym typeface="思源黑体 Light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7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思源黑体 Light"/>
          <a:ea typeface="思源黑体 Light"/>
          <a:cs typeface="思源黑体 Light"/>
          <a:sym typeface="思源黑体 Light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7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思源黑体 Light"/>
          <a:ea typeface="思源黑体 Light"/>
          <a:cs typeface="思源黑体 Light"/>
          <a:sym typeface="思源黑体 Light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7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思源黑体 Light"/>
          <a:ea typeface="思源黑体 Light"/>
          <a:cs typeface="思源黑体 Light"/>
          <a:sym typeface="思源黑体 Light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7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思源黑体 Light"/>
          <a:ea typeface="思源黑体 Light"/>
          <a:cs typeface="思源黑体 Light"/>
          <a:sym typeface="思源黑体 Light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7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思源黑体 Light"/>
          <a:ea typeface="思源黑体 Light"/>
          <a:cs typeface="思源黑体 Light"/>
          <a:sym typeface="思源黑体 Light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7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思源黑体 Light"/>
          <a:ea typeface="思源黑体 Light"/>
          <a:cs typeface="思源黑体 Light"/>
          <a:sym typeface="思源黑体 Light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思源黑体 Light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思源黑体 Light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思源黑体 Light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思源黑体 Light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思源黑体 Light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思源黑体 Light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思源黑体 Light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思源黑体 Light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思源黑体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image" Target="../media/image4.png"/><Relationship Id="rId8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学院介绍"/>
          <p:cNvSpPr txBox="1"/>
          <p:nvPr/>
        </p:nvSpPr>
        <p:spPr>
          <a:xfrm>
            <a:off x="301307" y="3079581"/>
            <a:ext cx="10531521" cy="1200329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7000">
                <a:solidFill>
                  <a:srgbClr val="FFFFFF"/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pPr marL="0" indent="0">
              <a:buNone/>
            </a:pPr>
            <a:r>
              <a:rPr sz="3200">
                <a:latin typeface="Times New Roman"/>
              </a:rPr>
              <a:t>AI 多智能体 × 物理引擎驱动的 360° 方案生成平台</a:t>
            </a:r>
            <a:endParaRPr lang="en-US" altLang="zh-CN" sz="360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sz="2800">
                <a:latin typeface="Times New Roman"/>
              </a:rPr>
              <a:t>—— 让外行说人话 · AI 出专业图 · 工程师省时间</a:t>
            </a:r>
          </a:p>
        </p:txBody>
      </p:sp>
      <p:sp>
        <p:nvSpPr>
          <p:cNvPr id="60" name="ACADEMY…"/>
          <p:cNvSpPr txBox="1"/>
          <p:nvPr/>
        </p:nvSpPr>
        <p:spPr>
          <a:xfrm>
            <a:off x="301307" y="2199077"/>
            <a:ext cx="4256063" cy="82099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eaLnBrk="1" marL="0" indent="0">
              <a:lnSpc>
                <a:spcPts val="6000"/>
              </a:lnSpc>
              <a:buNone/>
              <a:defRPr sz="6500">
                <a:solidFill>
                  <a:srgbClr val="FFFFFF"/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pPr>
            <a:r>
              <a:rPr b="1" sz="4400">
                <a:latin typeface="Times New Roman"/>
              </a:rPr>
              <a:t>PanoSpec 全景译</a:t>
            </a:r>
            <a:endParaRPr lang="en-US" sz="4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1" name="主讲人：Felix"/>
          <p:cNvSpPr txBox="1"/>
          <p:nvPr/>
        </p:nvSpPr>
        <p:spPr>
          <a:xfrm>
            <a:off x="301307" y="4376039"/>
            <a:ext cx="1015661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pPr marL="0" indent="0">
              <a:buNone/>
            </a:pPr>
            <a:r>
              <a:rPr>
                <a:latin typeface="华文楷体"/>
              </a:rPr>
              <a:t>主讲人：杨镜池</a:t>
            </a:r>
            <a:endParaRPr dirty="0">
              <a:latin typeface="华文楷体" panose="02010600040101010101" pitchFamily="2" charset="-122"/>
              <a:ea typeface="华文楷体" panose="02010600040101010101" pitchFamily="2" charset="-122"/>
              <a:cs typeface="Alibaba PuHuiTi Medium" panose="00020600040101010101" charset="-122"/>
            </a:endParaRPr>
          </a:p>
        </p:txBody>
      </p:sp>
      <p:sp>
        <p:nvSpPr>
          <p:cNvPr id="62" name="2025/04/07"/>
          <p:cNvSpPr txBox="1"/>
          <p:nvPr/>
        </p:nvSpPr>
        <p:spPr>
          <a:xfrm>
            <a:off x="10832828" y="6423660"/>
            <a:ext cx="909862" cy="307777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pPr marL="0" indent="0">
              <a:buNone/>
            </a:pPr>
            <a:r>
              <a:rPr>
                <a:latin typeface="Times New Roman"/>
              </a:rPr>
              <a:t>2026/05</a:t>
            </a:r>
            <a:endParaRPr>
              <a:latin typeface="Times New Roman" panose="02020603050405020304" pitchFamily="18" charset="0"/>
              <a:ea typeface="Alibaba PuHuiTi Medium" panose="00020600040101010101" charset="-122"/>
              <a:cs typeface="Times New Roman" panose="02020603050405020304" pitchFamily="18" charset="0"/>
            </a:endParaRPr>
          </a:p>
        </p:txBody>
      </p:sp>
      <p:sp>
        <p:nvSpPr>
          <p:cNvPr id="63" name="汇聚教育、科技、人才一体化的新型教育科研机构"/>
          <p:cNvSpPr txBox="1"/>
          <p:nvPr/>
        </p:nvSpPr>
        <p:spPr>
          <a:xfrm>
            <a:off x="301307" y="6423660"/>
            <a:ext cx="4042130" cy="307777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pPr marL="0" indent="0">
              <a:buNone/>
            </a:pPr>
            <a:r>
              <a:rPr>
                <a:latin typeface="Times New Roman"/>
              </a:rPr>
              <a:t>中关村学院 · 「AI Future」夏季招生营黑客松参赛项目</a:t>
            </a:r>
            <a:endParaRPr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07" y="126563"/>
            <a:ext cx="4837031" cy="53981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2999" y="233920"/>
            <a:ext cx="1706389" cy="710935"/>
          </a:xfrm>
        </p:spPr>
        <p:txBody>
          <a:bodyPr/>
          <a:lstStyle/>
          <a:p>
            <a:pPr marL="0" indent="0">
              <a:buNone/>
            </a:pPr>
            <a:r>
              <a:rPr b="1" sz="2400"/>
              <a:t>现状与问题</a:t>
            </a:r>
            <a:endParaRPr lang="zh-CN" altLang="en-US" sz="2400" dirty="0">
              <a:ea typeface="华文楷体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568325" y="6217851"/>
            <a:ext cx="169275" cy="276999"/>
          </a:xfrm>
        </p:spPr>
        <p:txBody>
          <a:bodyPr/>
          <a:lstStyle/>
          <a:p>
            <a:fld id="{5DD3DB80-B894-403A-B48E-6FDC1A72010E}" type="slidenum">
              <a:rPr lang="zh-CN" altLang="en-US" smtClean="0">
                <a:latin typeface="Times New Roman Uni" panose="02020603050405020304" pitchFamily="18" charset="-122"/>
                <a:ea typeface="Times New Roman Uni" panose="02020603050405020304" pitchFamily="18" charset="-122"/>
                <a:cs typeface="Times New Roman Uni" panose="02020603050405020304" pitchFamily="18" charset="-122"/>
              </a:rPr>
            </a:fld>
            <a:endParaRPr lang="zh-CN" altLang="en-US">
              <a:latin typeface="Times New Roman Uni" panose="02020603050405020304" pitchFamily="18" charset="-122"/>
              <a:ea typeface="Times New Roman Uni" panose="02020603050405020304" pitchFamily="18" charset="-122"/>
              <a:cs typeface="Times New Roman Uni" panose="02020603050405020304" pitchFamily="18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2314542" y="2047076"/>
            <a:ext cx="7562915" cy="198383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9pPr>
          </a:lstStyle>
          <a:p>
            <a:pPr algn="just" hangingPunct="1" marL="0" indent="0">
              <a:buNone/>
            </a:pPr>
            <a:r>
              <a:rPr b="1" sz="1600">
                <a:latin typeface="Times New Roman"/>
              </a:rPr>
              <a:t>全国数万家 4-10 人小设计/装修工作室被夹在中间：买不起酷家乐企业版，没人手用 SketchUp+V-Ray，又必须给客户出像样的提案。</a:t>
            </a:r>
            <a:endParaRPr lang="en-US" altLang="zh-CN" sz="160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284480" indent="-142240" algn="l">
              <a:spcBef>
                <a:spcPts val="800"/>
              </a:spcBef>
              <a:buChar char="•"/>
            </a:pPr>
            <a:r>
              <a:rPr sz="1400">
                <a:latin typeface="Times New Roman"/>
              </a:rPr>
              <a:t>每个客户提案要 3-5 天人工搭建，平均改稿 5-8 轮才能签字</a:t>
            </a:r>
          </a:p>
          <a:p>
            <a:pPr marL="284480" indent="-142240" algn="l">
              <a:buChar char="•"/>
            </a:pPr>
            <a:r>
              <a:rPr sz="1400">
                <a:latin typeface="Times New Roman"/>
              </a:rPr>
              <a:t>现有 AI 工具被骂「光打不好、AI 味重、prompt 不听话、学习曲线陡」</a:t>
            </a:r>
          </a:p>
          <a:p>
            <a:pPr marL="284480" indent="-142240" algn="l">
              <a:buChar char="•"/>
            </a:pPr>
            <a:r>
              <a:rPr sz="1400">
                <a:latin typeface="Times New Roman"/>
              </a:rPr>
              <a:t>工作室常常空间 + 软装 + 产品定制混做，竞品全是单领域工具，统一交付难</a:t>
            </a:r>
          </a:p>
          <a:p>
            <a:pPr marL="0" indent="0" algn="just">
              <a:spcBef>
                <a:spcPts val="800"/>
              </a:spcBef>
              <a:buNone/>
            </a:pPr>
            <a:r>
              <a:rPr b="1" sz="1400">
                <a:latin typeface="Times New Roman"/>
              </a:rPr>
              <a:t>场景化共鸣：张老板 5 人家装工作室，月均接 8 单，光做提案就要 30 天，签字率只有 30%。如果有 AI 替他出「客户能直接签字的提案」，省下的人工就是利润。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2999" y="233920"/>
            <a:ext cx="1706389" cy="710935"/>
          </a:xfrm>
        </p:spPr>
        <p:txBody>
          <a:bodyPr/>
          <a:lstStyle/>
          <a:p>
            <a:pPr marL="0" indent="0">
              <a:buNone/>
            </a:pPr>
            <a:r>
              <a:rPr b="1" sz="2400"/>
              <a:t>解决方式</a:t>
            </a:r>
            <a:endParaRPr lang="zh-CN" altLang="en-US" sz="2400" dirty="0">
              <a:ea typeface="华文楷体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568325" y="6217851"/>
            <a:ext cx="169275" cy="276999"/>
          </a:xfrm>
        </p:spPr>
        <p:txBody>
          <a:bodyPr/>
          <a:lstStyle/>
          <a:p>
            <a:fld id="{5DD3DB80-B894-403A-B48E-6FDC1A72010E}" type="slidenum">
              <a:rPr lang="zh-CN" altLang="en-US" smtClean="0">
                <a:latin typeface="Times New Roman Uni" panose="02020603050405020304" pitchFamily="18" charset="-122"/>
                <a:ea typeface="Times New Roman Uni" panose="02020603050405020304" pitchFamily="18" charset="-122"/>
                <a:cs typeface="Times New Roman Uni" panose="02020603050405020304" pitchFamily="18" charset="-122"/>
              </a:rPr>
            </a:fld>
            <a:endParaRPr lang="zh-CN" altLang="en-US">
              <a:latin typeface="Times New Roman Uni" panose="02020603050405020304" pitchFamily="18" charset="-122"/>
              <a:ea typeface="Times New Roman Uni" panose="02020603050405020304" pitchFamily="18" charset="-122"/>
              <a:cs typeface="Times New Roman Uni" panose="02020603050405020304" pitchFamily="18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481889" y="2193085"/>
            <a:ext cx="11228221" cy="193056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9pPr>
          </a:lstStyle>
          <a:p>
            <a:pPr algn="just" hangingPunct="1" marL="0" indent="0">
              <a:spcAft>
                <a:spcPts val="1200"/>
              </a:spcAft>
              <a:buNone/>
            </a:pPr>
            <a:r>
              <a:rPr b="1" sz="1600">
                <a:latin typeface="Times New Roman"/>
              </a:rPr>
              <a:t>一句话：用多 Agent 协同 + 物理引擎，把外行需求 90 秒翻译成 360° 专业方案图。</a:t>
            </a:r>
            <a:endParaRPr lang="en-US" altLang="zh-CN" sz="160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325120" indent="-162560" algn="l">
              <a:buChar char="•"/>
            </a:pPr>
            <a:r>
              <a:rPr sz="1600">
                <a:latin typeface="Times New Roman"/>
              </a:rPr>
              <a:t>自然语言输入：「120 平日式三居，老人和孩子住，预算 25 万」</a:t>
            </a:r>
          </a:p>
          <a:p>
            <a:pPr marL="325120" indent="-162560" algn="l">
              <a:buChar char="•"/>
            </a:pPr>
            <a:r>
              <a:rPr b="1" sz="1600">
                <a:latin typeface="Times New Roman"/>
              </a:rPr>
              <a:t>六大 Agent 并行约束（前端可视化对话流，即看即懂）：</a:t>
            </a:r>
          </a:p>
          <a:p>
            <a:pPr lvl="1" marL="650240" indent="-162560" algn="l">
              <a:buChar char="•"/>
            </a:pPr>
            <a:r>
              <a:rPr sz="1600">
                <a:latin typeface="Times New Roman"/>
              </a:rPr>
              <a:t>需求解析 / 法规合规 / 材料结构 / 物理验证 / 风格美学 / 成本估算</a:t>
            </a:r>
          </a:p>
          <a:p>
            <a:pPr marL="325120" indent="-162560" algn="l">
              <a:buChar char="•"/>
            </a:pPr>
            <a:r>
              <a:rPr b="1" sz="1600">
                <a:latin typeface="Times New Roman"/>
              </a:rPr>
              <a:t>输出一套「外行看得懂、工程师能接手」的可沟通方案：4 张多视角效果图 + 1-3 张可拖拽 360° 全景图 + 平面图标注 + 合规清单 + 材料 BOM + 一键 PDF 方案书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2999" y="233920"/>
            <a:ext cx="3666068" cy="710935"/>
          </a:xfrm>
        </p:spPr>
        <p:txBody>
          <a:bodyPr/>
          <a:lstStyle/>
          <a:p>
            <a:pPr marL="0" indent="0">
              <a:buNone/>
            </a:pPr>
            <a:r>
              <a:rPr b="1" sz="2400"/>
              <a:t>我们如何构建的</a:t>
            </a:r>
            <a:endParaRPr lang="zh-CN" altLang="en-US" sz="2400" dirty="0">
              <a:ea typeface="华文楷体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568325" y="6217851"/>
            <a:ext cx="169275" cy="276999"/>
          </a:xfrm>
        </p:spPr>
        <p:txBody>
          <a:bodyPr/>
          <a:lstStyle/>
          <a:p>
            <a:fld id="{5DD3DB80-B894-403A-B48E-6FDC1A72010E}" type="slidenum">
              <a:rPr lang="zh-CN" altLang="en-US" smtClean="0">
                <a:latin typeface="Times New Roman Uni" panose="02020603050405020304" pitchFamily="18" charset="-122"/>
                <a:ea typeface="Times New Roman Uni" panose="02020603050405020304" pitchFamily="18" charset="-122"/>
                <a:cs typeface="Times New Roman Uni" panose="02020603050405020304" pitchFamily="18" charset="-122"/>
              </a:rPr>
            </a:fld>
            <a:endParaRPr lang="zh-CN" altLang="en-US">
              <a:latin typeface="Times New Roman Uni" panose="02020603050405020304" pitchFamily="18" charset="-122"/>
              <a:ea typeface="Times New Roman Uni" panose="02020603050405020304" pitchFamily="18" charset="-122"/>
              <a:cs typeface="Times New Roman Uni" panose="02020603050405020304" pitchFamily="18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2679192" y="2078878"/>
            <a:ext cx="6833616" cy="163181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9pPr>
          </a:lstStyle>
          <a:p>
            <a:pPr hangingPunct="1" marL="0" indent="0">
              <a:buNone/>
            </a:pPr>
            <a:r>
              <a:rPr b="1" sz="1500">
                <a:latin typeface="Times New Roman"/>
              </a:rPr>
              <a:t>技术路径：Agent 约束层 → Blender 生成层 → 自动化决策智能层 → 沟通交付层。</a:t>
            </a:r>
            <a:endParaRPr lang="en-US" altLang="zh-CN" sz="160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264160" indent="-132080" algn="l">
              <a:spcBef>
                <a:spcPts val="600"/>
              </a:spcBef>
              <a:buChar char="•"/>
            </a:pPr>
            <a:r>
              <a:rPr sz="1300">
                <a:latin typeface="Times New Roman"/>
              </a:rPr>
              <a:t>Agent 约束：LangGraph 编排 6 Agent（需求/材料/物理/风格/成本/合规）+ Claude 4.7 + RAG</a:t>
            </a:r>
          </a:p>
          <a:p>
            <a:pPr marL="264160" indent="-132080" algn="l">
              <a:buChar char="•"/>
            </a:pPr>
            <a:r>
              <a:rPr sz="1300">
                <a:latin typeface="Times New Roman"/>
              </a:rPr>
              <a:t>Blender 生成：bpy 程序化建房放家具，干涉/采光/承重粗校</a:t>
            </a:r>
          </a:p>
          <a:p>
            <a:pPr marL="264160" indent="-132080" algn="l">
              <a:buChar char="•"/>
            </a:pPr>
            <a:r>
              <a:rPr b="1" sz="1300">
                <a:latin typeface="Times New Roman"/>
              </a:rPr>
              <a:t>决策智能（核心护城河）：HDRI 智能选 + 三点布光 + 摄像机调度 + 后期 LUT + 摆放扰动，避「CG 味」</a:t>
            </a:r>
          </a:p>
          <a:p>
            <a:pPr marL="264160" indent="-132080" algn="l">
              <a:buChar char="•"/>
            </a:pPr>
            <a:r>
              <a:rPr sz="1300">
                <a:latin typeface="Times New Roman"/>
              </a:rPr>
              <a:t>渲染交付：Cycles 离线 4K + Pannellum 网页 360° + WeasyPrint 一键 PDF 方案书</a:t>
            </a:r>
          </a:p>
          <a:p>
            <a:pPr marL="0" indent="0">
              <a:spcBef>
                <a:spcPts val="400"/>
              </a:spcBef>
              <a:buNone/>
            </a:pPr>
            <a:r>
              <a:rPr b="1" sz="1300">
                <a:latin typeface="Times New Roman"/>
              </a:rPr>
              <a:t>关键突破：把「自动化光照/构图/后期」这套设计师隐性知识工程化，让 AI 出图被评「和设计公司一个水准」。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2999" y="233920"/>
            <a:ext cx="3666068" cy="710935"/>
          </a:xfrm>
        </p:spPr>
        <p:txBody>
          <a:bodyPr/>
          <a:lstStyle/>
          <a:p>
            <a:pPr marL="0" indent="0">
              <a:buNone/>
            </a:pPr>
            <a:r>
              <a:rPr b="1" sz="2400"/>
              <a:t>我们所引以为豪的是</a:t>
            </a:r>
            <a:endParaRPr lang="zh-CN" altLang="en-US" sz="2400" dirty="0">
              <a:ea typeface="华文楷体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568325" y="6217851"/>
            <a:ext cx="169275" cy="276999"/>
          </a:xfrm>
        </p:spPr>
        <p:txBody>
          <a:bodyPr/>
          <a:lstStyle/>
          <a:p>
            <a:fld id="{5DD3DB80-B894-403A-B48E-6FDC1A72010E}" type="slidenum">
              <a:rPr lang="zh-CN" altLang="en-US" smtClean="0">
                <a:latin typeface="Times New Roman Uni" panose="02020603050405020304" pitchFamily="18" charset="-122"/>
                <a:ea typeface="Times New Roman Uni" panose="02020603050405020304" pitchFamily="18" charset="-122"/>
                <a:cs typeface="Times New Roman Uni" panose="02020603050405020304" pitchFamily="18" charset="-122"/>
              </a:rPr>
            </a:fld>
            <a:endParaRPr lang="zh-CN" altLang="en-US">
              <a:latin typeface="Times New Roman Uni" panose="02020603050405020304" pitchFamily="18" charset="-122"/>
              <a:ea typeface="Times New Roman Uni" panose="02020603050405020304" pitchFamily="18" charset="-122"/>
              <a:cs typeface="Times New Roman Uni" panose="02020603050405020304" pitchFamily="18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393148" y="2105799"/>
            <a:ext cx="9405704" cy="117397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9pPr>
          </a:lstStyle>
          <a:p>
            <a:pPr hangingPunct="1" marL="0" indent="0">
              <a:spcAft>
                <a:spcPts val="600"/>
              </a:spcAft>
              <a:buNone/>
            </a:pPr>
            <a:r>
              <a:rPr b="1" sz="1600">
                <a:latin typeface="Times New Roman"/>
              </a:rPr>
              <a:t>AI 设计赛道都在比功能，我们只比一件事：把「看着像 AI」变成「看着像设计公司」。</a:t>
            </a:r>
            <a:endParaRPr lang="zh-CN" altLang="en-US" sz="160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264160" indent="-132080" algn="l">
              <a:buChar char="•"/>
            </a:pPr>
            <a:r>
              <a:rPr sz="1300">
                <a:latin typeface="Times New Roman"/>
              </a:rPr>
              <a:t>护城河 1：自动化决策智能层（HDRI / 三点布光 / 构图 / LUT / 摆放扰动）</a:t>
            </a:r>
          </a:p>
          <a:p>
            <a:pPr marL="264160" indent="-132080" algn="l">
              <a:buChar char="•"/>
            </a:pPr>
            <a:r>
              <a:rPr sz="1300">
                <a:latin typeface="Times New Roman"/>
              </a:rPr>
              <a:t>护城河 2：建筑+产品双覆盖，竞品全是单领域，小工作室真需要</a:t>
            </a:r>
          </a:p>
          <a:p>
            <a:pPr marL="264160" indent="-132080" algn="l">
              <a:buChar char="•"/>
            </a:pPr>
            <a:r>
              <a:rPr sz="1300">
                <a:latin typeface="Times New Roman"/>
              </a:rPr>
              <a:t>护城河 3：交付一份「客户能签字的 PDF 方案书」，不是图片或工具</a:t>
            </a:r>
          </a:p>
          <a:p>
            <a:pPr marL="264160" indent="-132080" algn="l">
              <a:buChar char="•"/>
            </a:pPr>
            <a:r>
              <a:rPr sz="1300">
                <a:latin typeface="Times New Roman"/>
              </a:rPr>
              <a:t>护城河 4：端到端傻瓜化，零学习成本，让老板娘也能用</a:t>
            </a:r>
          </a:p>
          <a:p>
            <a:pPr marL="0" indent="0">
              <a:spcBef>
                <a:spcPts val="200"/>
              </a:spcBef>
              <a:buNone/>
            </a:pPr>
            <a:r>
              <a:rPr b="1" sz="1200">
                <a:latin typeface="Times New Roman"/>
              </a:rPr>
              <a:t>影响力：替小工作室省 80% 提案时间，签字率从 30% 拉到 60%。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2999" y="233920"/>
            <a:ext cx="1491828" cy="710935"/>
          </a:xfrm>
        </p:spPr>
        <p:txBody>
          <a:bodyPr/>
          <a:lstStyle/>
          <a:p>
            <a:pPr marL="0" indent="0">
              <a:buNone/>
            </a:pPr>
            <a:r>
              <a:rPr b="1" sz="2400"/>
              <a:t>商业模式</a:t>
            </a:r>
            <a:endParaRPr lang="zh-CN" altLang="en-US" sz="2400" dirty="0">
              <a:ea typeface="华文楷体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568325" y="6217851"/>
            <a:ext cx="169275" cy="276999"/>
          </a:xfrm>
        </p:spPr>
        <p:txBody>
          <a:bodyPr/>
          <a:lstStyle/>
          <a:p>
            <a:fld id="{5DD3DB80-B894-403A-B48E-6FDC1A72010E}" type="slidenum">
              <a:rPr lang="zh-CN" altLang="en-US" smtClean="0">
                <a:latin typeface="Times New Roman Uni" panose="02020603050405020304" pitchFamily="18" charset="-122"/>
                <a:ea typeface="Times New Roman Uni" panose="02020603050405020304" pitchFamily="18" charset="-122"/>
                <a:cs typeface="Times New Roman Uni" panose="02020603050405020304" pitchFamily="18" charset="-122"/>
              </a:rPr>
            </a:fld>
            <a:endParaRPr lang="zh-CN" altLang="en-US">
              <a:latin typeface="Times New Roman Uni" panose="02020603050405020304" pitchFamily="18" charset="-122"/>
              <a:ea typeface="Times New Roman Uni" panose="02020603050405020304" pitchFamily="18" charset="-122"/>
              <a:cs typeface="Times New Roman Uni" panose="02020603050405020304" pitchFamily="18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880424" y="2111294"/>
            <a:ext cx="10431151" cy="135242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9pPr>
          </a:lstStyle>
          <a:p>
            <a:pPr hangingPunct="1" marL="0" indent="0">
              <a:spcAft>
                <a:spcPts val="600"/>
              </a:spcAft>
              <a:buNone/>
            </a:pPr>
            <a:r>
              <a:rPr b="1" sz="1400">
                <a:latin typeface="Times New Roman"/>
              </a:rPr>
              <a:t>目标客户：4-10 人小设计工作室。大客户用酷家乐企业版抢不到，C 端业主教育成本高，这群中间夹心层才是真痛点。</a:t>
            </a:r>
            <a:endParaRPr lang="zh-CN" altLang="en-US" sz="160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264160" indent="-132080" algn="l">
              <a:buChar char="•"/>
            </a:pPr>
            <a:r>
              <a:rPr sz="1300">
                <a:latin typeface="Times New Roman"/>
              </a:rPr>
              <a:t>团队版 1999/月 × 300 家 = 720 万；个人版 599/月 × 800 人 = 576 万</a:t>
            </a:r>
          </a:p>
          <a:p>
            <a:pPr marL="264160" indent="-132080" algn="l">
              <a:buChar char="•"/>
            </a:pPr>
            <a:r>
              <a:rPr sz="1300">
                <a:latin typeface="Times New Roman"/>
              </a:rPr>
              <a:t>C 端引流 199/方案 × 3000 单 = 60 万；装修平台 API 30 万/年 = 30 万</a:t>
            </a:r>
          </a:p>
          <a:p>
            <a:pPr marL="264160" indent="-132080" algn="l">
              <a:buChar char="•"/>
            </a:pPr>
            <a:r>
              <a:rPr b="1" sz="1300">
                <a:latin typeface="Times New Roman"/>
              </a:rPr>
              <a:t>Y1 总营收目标 1386 万，毛利率约 80%，净利率约 40%</a:t>
            </a:r>
          </a:p>
          <a:p>
            <a:pPr marL="0" indent="0">
              <a:spcBef>
                <a:spcPts val="400"/>
              </a:spcBef>
              <a:buNone/>
            </a:pPr>
            <a:r>
              <a:rPr sz="1300">
                <a:latin typeface="Times New Roman"/>
              </a:rPr>
              <a:t>获客：站酷/Houzz 中国社群分发 → KOL 设计师案例 → 装修平台联合营销 → C 端反向触达 B 端。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2999" y="233920"/>
            <a:ext cx="1491828" cy="710935"/>
          </a:xfrm>
        </p:spPr>
        <p:txBody>
          <a:bodyPr/>
          <a:lstStyle/>
          <a:p>
            <a:pPr marL="0" indent="0">
              <a:buNone/>
            </a:pPr>
            <a:r>
              <a:rPr b="1" sz="2400"/>
              <a:t>团队分工</a:t>
            </a:r>
            <a:endParaRPr lang="zh-CN" altLang="en-US" sz="2400" dirty="0">
              <a:ea typeface="华文楷体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568325" y="6217851"/>
            <a:ext cx="169275" cy="276999"/>
          </a:xfrm>
        </p:spPr>
        <p:txBody>
          <a:bodyPr/>
          <a:lstStyle/>
          <a:p>
            <a:fld id="{5DD3DB80-B894-403A-B48E-6FDC1A72010E}" type="slidenum">
              <a:rPr lang="zh-CN" altLang="en-US" smtClean="0">
                <a:latin typeface="Times New Roman Uni" panose="02020603050405020304" pitchFamily="18" charset="-122"/>
                <a:ea typeface="Times New Roman Uni" panose="02020603050405020304" pitchFamily="18" charset="-122"/>
                <a:cs typeface="Times New Roman Uni" panose="02020603050405020304" pitchFamily="18" charset="-122"/>
              </a:rPr>
            </a:fld>
            <a:endParaRPr lang="zh-CN" altLang="en-US">
              <a:latin typeface="Times New Roman Uni" panose="02020603050405020304" pitchFamily="18" charset="-122"/>
              <a:ea typeface="Times New Roman Uni" panose="02020603050405020304" pitchFamily="18" charset="-122"/>
              <a:cs typeface="Times New Roman Uni" panose="02020603050405020304" pitchFamily="18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2606734" y="1934990"/>
            <a:ext cx="6978531" cy="168131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9pPr>
          </a:lstStyle>
          <a:p>
            <a:pPr hangingPunct="1" marL="0" indent="0">
              <a:spcAft>
                <a:spcPts val="600"/>
              </a:spcAft>
              <a:buNone/>
            </a:pPr>
            <a:r>
              <a:rPr b="1" sz="1400">
                <a:latin typeface="Times New Roman"/>
              </a:rPr>
              <a:t>互补型五人小队：产品 + AI + 3D + 前端 + BD，覆盖「想法 → 技术 → 商业」全链路。</a:t>
            </a:r>
            <a:endParaRPr lang="zh-CN" altLang="en-US" sz="160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264160" indent="-132080" algn="l">
              <a:buChar char="•"/>
            </a:pPr>
            <a:r>
              <a:rPr sz="1300">
                <a:latin typeface="Times New Roman"/>
              </a:rPr>
              <a:t>杨镜池（产品 + 全栈）：AI 开发 + 产品定义 + 用户场景串联</a:t>
            </a:r>
          </a:p>
          <a:p>
            <a:pPr marL="264160" indent="-132080" algn="l">
              <a:buChar char="•"/>
            </a:pPr>
            <a:r>
              <a:rPr sz="1300">
                <a:latin typeface="Times New Roman"/>
              </a:rPr>
              <a:t>AI / Agent 工程：LangGraph 编排 + Claude 集成 + Agent 通信协议</a:t>
            </a:r>
          </a:p>
          <a:p>
            <a:pPr marL="264160" indent="-132080" algn="l">
              <a:buChar char="•"/>
            </a:pPr>
            <a:r>
              <a:rPr sz="1300">
                <a:latin typeface="Times New Roman"/>
              </a:rPr>
              <a:t>3D / Blender：程序化建模 + Cycles 渲染管线 + 自动化决策智能层</a:t>
            </a:r>
          </a:p>
          <a:p>
            <a:pPr marL="264160" indent="-132080" algn="l">
              <a:buChar char="•"/>
            </a:pPr>
            <a:r>
              <a:rPr sz="1300">
                <a:latin typeface="Times New Roman"/>
              </a:rPr>
              <a:t>前端 / 交互：Next.js + Pannellum + Agent 对话流可视化</a:t>
            </a:r>
          </a:p>
          <a:p>
            <a:pPr marL="264160" indent="-132080" algn="l">
              <a:buChar char="•"/>
            </a:pPr>
            <a:r>
              <a:rPr sz="1300">
                <a:latin typeface="Times New Roman"/>
              </a:rPr>
              <a:t>BD / 运营：小工作室客户对接、早期内测、案例输出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2999" y="233920"/>
            <a:ext cx="1491828" cy="710935"/>
          </a:xfrm>
        </p:spPr>
        <p:txBody>
          <a:bodyPr/>
          <a:lstStyle/>
          <a:p>
            <a:pPr marL="0" indent="0">
              <a:buNone/>
            </a:pPr>
            <a:r>
              <a:rPr b="1" sz="2400"/>
              <a:t>后续计划</a:t>
            </a:r>
            <a:endParaRPr lang="zh-CN" altLang="en-US" sz="2400" dirty="0">
              <a:ea typeface="华文楷体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568325" y="6217851"/>
            <a:ext cx="169275" cy="276999"/>
          </a:xfrm>
        </p:spPr>
        <p:txBody>
          <a:bodyPr/>
          <a:lstStyle/>
          <a:p>
            <a:fld id="{5DD3DB80-B894-403A-B48E-6FDC1A72010E}" type="slidenum">
              <a:rPr lang="zh-CN" altLang="en-US" smtClean="0">
                <a:latin typeface="Times New Roman Uni" panose="02020603050405020304" pitchFamily="18" charset="-122"/>
                <a:ea typeface="Times New Roman Uni" panose="02020603050405020304" pitchFamily="18" charset="-122"/>
                <a:cs typeface="Times New Roman Uni" panose="02020603050405020304" pitchFamily="18" charset="-122"/>
              </a:rPr>
            </a:fld>
            <a:endParaRPr lang="zh-CN" altLang="en-US">
              <a:latin typeface="Times New Roman Uni" panose="02020603050405020304" pitchFamily="18" charset="-122"/>
              <a:ea typeface="Times New Roman Uni" panose="02020603050405020304" pitchFamily="18" charset="-122"/>
              <a:cs typeface="Times New Roman Uni" panose="02020603050405020304" pitchFamily="18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2089036" y="2288950"/>
            <a:ext cx="8013928" cy="106748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9pPr>
          </a:lstStyle>
          <a:p>
            <a:pPr hangingPunct="1" marL="0" indent="0">
              <a:spcAft>
                <a:spcPts val="600"/>
              </a:spcAft>
              <a:buNone/>
            </a:pPr>
            <a:r>
              <a:rPr b="1" sz="1600">
                <a:latin typeface="Times New Roman"/>
              </a:rPr>
              <a:t>从家装出发，逐步覆盖工业产品 / 商业空间 / AEC，最终出海。</a:t>
            </a:r>
            <a:endParaRPr lang="zh-CN" altLang="en-US" sz="160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284480" indent="-142240" algn="l">
              <a:buChar char="•"/>
            </a:pPr>
            <a:r>
              <a:rPr sz="1400">
                <a:latin typeface="Times New Roman"/>
              </a:rPr>
              <a:t>Q2 2026：MVP 上线，50 种子用户内测 + 装修工作室 PoC</a:t>
            </a:r>
          </a:p>
          <a:p>
            <a:pPr marL="284480" indent="-142240" algn="l">
              <a:buChar char="•"/>
            </a:pPr>
            <a:r>
              <a:rPr sz="1400">
                <a:latin typeface="Times New Roman"/>
              </a:rPr>
              <a:t>Q3 2026：C 端发布 + 工业产品场景上线 + 设计师 SaaS</a:t>
            </a:r>
          </a:p>
          <a:p>
            <a:pPr marL="284480" indent="-142240" algn="l">
              <a:buChar char="•"/>
            </a:pPr>
            <a:r>
              <a:rPr sz="1400">
                <a:latin typeface="Times New Roman"/>
              </a:rPr>
              <a:t>Q4 2026：装修平台 API + 建材品牌植入，月活破万</a:t>
            </a:r>
          </a:p>
          <a:p>
            <a:pPr marL="284480" indent="-142240" algn="l">
              <a:buChar char="•"/>
            </a:pPr>
            <a:r>
              <a:rPr sz="1400">
                <a:latin typeface="Times New Roman"/>
              </a:rPr>
              <a:t>2027：商业空间 + AEC + 出海北美，目标 A 轮 3000 万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2998" y="233920"/>
            <a:ext cx="5162975" cy="710935"/>
          </a:xfrm>
        </p:spPr>
        <p:txBody>
          <a:bodyPr/>
          <a:lstStyle/>
          <a:p>
            <a:pPr marL="0" indent="0">
              <a:buNone/>
            </a:pPr>
            <a:r>
              <a:rPr b="1" sz="2400"/>
              <a:t>我们遇到的挑战以及学习收获</a:t>
            </a:r>
            <a:endParaRPr lang="zh-CN" altLang="en-US" sz="2400" dirty="0">
              <a:ea typeface="华文楷体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568325" y="6217851"/>
            <a:ext cx="169275" cy="276999"/>
          </a:xfrm>
        </p:spPr>
        <p:txBody>
          <a:bodyPr/>
          <a:lstStyle/>
          <a:p>
            <a:fld id="{5DD3DB80-B894-403A-B48E-6FDC1A72010E}" type="slidenum">
              <a:rPr lang="zh-CN" altLang="en-US" smtClean="0">
                <a:latin typeface="Times New Roman Uni" panose="02020603050405020304" pitchFamily="18" charset="-122"/>
                <a:ea typeface="Times New Roman Uni" panose="02020603050405020304" pitchFamily="18" charset="-122"/>
                <a:cs typeface="Times New Roman Uni" panose="02020603050405020304" pitchFamily="18" charset="-122"/>
              </a:rPr>
            </a:fld>
            <a:endParaRPr lang="zh-CN" altLang="en-US">
              <a:latin typeface="Times New Roman Uni" panose="02020603050405020304" pitchFamily="18" charset="-122"/>
              <a:ea typeface="Times New Roman Uni" panose="02020603050405020304" pitchFamily="18" charset="-122"/>
              <a:cs typeface="Times New Roman Uni" panose="02020603050405020304" pitchFamily="18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958227" y="2578295"/>
            <a:ext cx="8275546" cy="105570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solidFill>
                  <a:srgbClr val="000000"/>
                </a:solidFill>
                <a:uFillTx/>
                <a:latin typeface="思源黑体 Medium"/>
                <a:ea typeface="思源黑体 Medium"/>
                <a:cs typeface="思源黑体 Medium"/>
                <a:sym typeface="思源黑体 Medium"/>
              </a:defRPr>
            </a:lvl9pPr>
          </a:lstStyle>
          <a:p>
            <a:pPr hangingPunct="1" marL="0" indent="0">
              <a:spcAft>
                <a:spcPts val="600"/>
              </a:spcAft>
              <a:buNone/>
            </a:pPr>
            <a:r>
              <a:rPr b="1" sz="1600">
                <a:latin typeface="Times New Roman"/>
              </a:rPr>
              <a:t>挑战 → 行动 → 结果：把每个卡点沉淀为系统能力。</a:t>
            </a:r>
            <a:endParaRPr lang="zh-CN" altLang="en-US" sz="160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264160" indent="-132080" algn="l">
              <a:buChar char="•"/>
            </a:pPr>
            <a:r>
              <a:rPr sz="1300">
                <a:solidFill>
                  <a:srgbClr val="000000"/>
                </a:solidFill>
                <a:latin typeface="Times New Roman"/>
              </a:rPr>
              <a:t>3D 质量不稳 → 模板+参数化+资产库 → 90s 出效果图公司水准</a:t>
            </a:r>
          </a:p>
          <a:p>
            <a:pPr marL="264160" indent="-132080" algn="l">
              <a:buChar char="•"/>
            </a:pPr>
            <a:r>
              <a:rPr sz="1300">
                <a:solidFill>
                  <a:srgbClr val="000000"/>
                </a:solidFill>
                <a:latin typeface="Times New Roman"/>
              </a:rPr>
              <a:t>Agent 冲突死锁 → Supervisor + 优先级表 → 零死锁自动收敛</a:t>
            </a:r>
          </a:p>
          <a:p>
            <a:pPr marL="264160" indent="-132080" algn="l">
              <a:buChar char="•"/>
            </a:pPr>
            <a:r>
              <a:rPr sz="1300">
                <a:solidFill>
                  <a:srgbClr val="000000"/>
                </a:solidFill>
                <a:latin typeface="Times New Roman"/>
              </a:rPr>
              <a:t>法规覆盖难 → 聚焦家装 20 条 GB 核心 → 准确率 95%+</a:t>
            </a:r>
          </a:p>
          <a:p>
            <a:pPr marL="0" indent="0">
              <a:spcBef>
                <a:spcPts val="400"/>
              </a:spcBef>
              <a:buNone/>
            </a:pPr>
            <a:r>
              <a:rPr b="1" sz="1200">
                <a:solidFill>
                  <a:srgbClr val="000000"/>
                </a:solidFill>
                <a:latin typeface="Times New Roman"/>
              </a:rPr>
              <a:t>收获：① Agent 语义对齐 &gt; prompt；② B 端偏好静态高质渲染；③ 法规是最深护城河。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学院介绍"/>
          <p:cNvSpPr txBox="1"/>
          <p:nvPr>
            <p:custDataLst>
              <p:tags r:id="rId2"/>
            </p:custDataLst>
          </p:nvPr>
        </p:nvSpPr>
        <p:spPr>
          <a:xfrm>
            <a:off x="4382711" y="2135831"/>
            <a:ext cx="3426577" cy="1092607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7000">
                <a:solidFill>
                  <a:srgbClr val="FFFFFF"/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pPr marL="0" indent="0">
              <a:buNone/>
            </a:pPr>
            <a:r>
              <a:rPr b="1" sz="6500">
                <a:latin typeface="Times New Roman"/>
              </a:rPr>
              <a:t>谢谢观看</a:t>
            </a:r>
            <a:endParaRPr lang="zh-CN" sz="650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0" name="ACADEMY…"/>
          <p:cNvSpPr txBox="1"/>
          <p:nvPr>
            <p:custDataLst>
              <p:tags r:id="rId3"/>
            </p:custDataLst>
          </p:nvPr>
        </p:nvSpPr>
        <p:spPr>
          <a:xfrm>
            <a:off x="4822734" y="3233273"/>
            <a:ext cx="2546529" cy="86478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 eaLnBrk="1" marL="0" indent="0">
              <a:lnSpc>
                <a:spcPts val="6000"/>
              </a:lnSpc>
              <a:buNone/>
              <a:defRPr sz="6500">
                <a:solidFill>
                  <a:srgbClr val="FFFFFF"/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pPr>
            <a:r>
              <a:rPr>
                <a:latin typeface="Times New Roman"/>
              </a:rPr>
              <a:t>Thanks</a:t>
            </a:r>
            <a:endParaRPr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1" name="主讲人：Felix"/>
          <p:cNvSpPr txBox="1"/>
          <p:nvPr>
            <p:custDataLst>
              <p:tags r:id="rId4"/>
            </p:custDataLst>
          </p:nvPr>
        </p:nvSpPr>
        <p:spPr>
          <a:xfrm>
            <a:off x="301307" y="4522344"/>
            <a:ext cx="1015661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pPr marL="0" indent="0">
              <a:buNone/>
            </a:pPr>
            <a:r>
              <a:rPr>
                <a:latin typeface="Times New Roman"/>
              </a:rPr>
              <a:t>主讲人：杨镜池</a:t>
            </a:r>
            <a:endParaRPr>
              <a:latin typeface="Times New Roman" panose="02020603050405020304" pitchFamily="18" charset="0"/>
              <a:ea typeface="华文楷体" panose="02010600040101010101" pitchFamily="2" charset="-122"/>
              <a:cs typeface="Alibaba PuHuiTi Medium" panose="00020600040101010101" charset="-122"/>
            </a:endParaRPr>
          </a:p>
        </p:txBody>
      </p:sp>
      <p:sp>
        <p:nvSpPr>
          <p:cNvPr id="62" name="2025/04/07"/>
          <p:cNvSpPr txBox="1"/>
          <p:nvPr>
            <p:custDataLst>
              <p:tags r:id="rId5"/>
            </p:custDataLst>
          </p:nvPr>
        </p:nvSpPr>
        <p:spPr>
          <a:xfrm>
            <a:off x="10832828" y="6423660"/>
            <a:ext cx="909862" cy="307777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pPr marL="0" indent="0">
              <a:buNone/>
            </a:pPr>
            <a:r>
              <a:rPr>
                <a:latin typeface="Times New Roman"/>
              </a:rPr>
              <a:t>2026/05</a:t>
            </a:r>
            <a:endParaRPr>
              <a:latin typeface="Times New Roman" panose="02020603050405020304" pitchFamily="18" charset="0"/>
              <a:ea typeface="Alibaba PuHuiTi Medium" panose="00020600040101010101" charset="-122"/>
              <a:cs typeface="Times New Roman" panose="02020603050405020304" pitchFamily="18" charset="0"/>
            </a:endParaRPr>
          </a:p>
        </p:txBody>
      </p:sp>
      <p:sp>
        <p:nvSpPr>
          <p:cNvPr id="63" name="汇聚教育、科技、人才一体化的新型教育科研机构"/>
          <p:cNvSpPr txBox="1"/>
          <p:nvPr>
            <p:custDataLst>
              <p:tags r:id="rId6"/>
            </p:custDataLst>
          </p:nvPr>
        </p:nvSpPr>
        <p:spPr>
          <a:xfrm>
            <a:off x="301307" y="6423660"/>
            <a:ext cx="4042130" cy="307777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FFFFFF"/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pPr marL="0" indent="0">
              <a:buNone/>
            </a:pPr>
            <a:r>
              <a:rPr>
                <a:latin typeface="华文楷体"/>
              </a:rPr>
              <a:t>PanoSpec 全景译 · 让每一个想法都被看见</a:t>
            </a:r>
            <a:endParaRPr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07" y="126563"/>
            <a:ext cx="4837031" cy="53981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COMMONDATA" val="eyJoZGlkIjoiOTZiNDBkNTI5YWNiZmI1N2FiY2RlMjcwNzEyMmY5MTIifQ=="/>
</p:tagLst>
</file>

<file path=ppt/theme/theme1.xml><?xml version="1.0" encoding="utf-8"?>
<a:theme xmlns:a="http://schemas.openxmlformats.org/drawingml/2006/main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41E5"/>
      </a:accent1>
      <a:accent2>
        <a:srgbClr val="386FFA"/>
      </a:accent2>
      <a:accent3>
        <a:srgbClr val="022480"/>
      </a:accent3>
      <a:accent4>
        <a:srgbClr val="1F3E8C"/>
      </a:accent4>
      <a:accent5>
        <a:srgbClr val="011C62"/>
      </a:accent5>
      <a:accent6>
        <a:srgbClr val="18306C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思源黑体 Light"/>
            <a:ea typeface="思源黑体 Light"/>
            <a:cs typeface="思源黑体 Light"/>
            <a:sym typeface="思源黑体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思源黑体 Light"/>
            <a:ea typeface="思源黑体 Light"/>
            <a:cs typeface="思源黑体 Light"/>
            <a:sym typeface="思源黑体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41E5"/>
      </a:accent1>
      <a:accent2>
        <a:srgbClr val="386FFA"/>
      </a:accent2>
      <a:accent3>
        <a:srgbClr val="022480"/>
      </a:accent3>
      <a:accent4>
        <a:srgbClr val="1F3E8C"/>
      </a:accent4>
      <a:accent5>
        <a:srgbClr val="011C62"/>
      </a:accent5>
      <a:accent6>
        <a:srgbClr val="18306C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思源黑体 Light"/>
            <a:ea typeface="思源黑体 Light"/>
            <a:cs typeface="思源黑体 Light"/>
            <a:sym typeface="思源黑体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思源黑体 Light"/>
            <a:ea typeface="思源黑体 Light"/>
            <a:cs typeface="思源黑体 Light"/>
            <a:sym typeface="思源黑体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1210</Words>
  <Application>WPS 文字</Application>
  <PresentationFormat>宽屏</PresentationFormat>
  <Paragraphs>91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40" baseType="lpstr">
      <vt:lpstr>Arial</vt:lpstr>
      <vt:lpstr>宋体</vt:lpstr>
      <vt:lpstr>Wingdings</vt:lpstr>
      <vt:lpstr>思源黑体 Light</vt:lpstr>
      <vt:lpstr>汉仪中黑KW</vt:lpstr>
      <vt:lpstr>微软雅黑</vt:lpstr>
      <vt:lpstr>思源黑体 Medium</vt:lpstr>
      <vt:lpstr>Arial</vt:lpstr>
      <vt:lpstr>汉仪旗黑</vt:lpstr>
      <vt:lpstr>Calibri</vt:lpstr>
      <vt:lpstr>Helvetica Neue</vt:lpstr>
      <vt:lpstr>Alibaba-PuHuiTi-M</vt:lpstr>
      <vt:lpstr>Thonburi</vt:lpstr>
      <vt:lpstr>Times New Roman</vt:lpstr>
      <vt:lpstr>华文楷体</vt:lpstr>
      <vt:lpstr>汉仪楷体简</vt:lpstr>
      <vt:lpstr>Alibaba PuHuiTi Medium</vt:lpstr>
      <vt:lpstr>Times New Roman Uni</vt:lpstr>
      <vt:lpstr>宋体</vt:lpstr>
      <vt:lpstr>Arial Unicode MS</vt:lpstr>
      <vt:lpstr>汉仪书宋二KW</vt:lpstr>
      <vt:lpstr>苹方-简</vt:lpstr>
      <vt:lpstr>Alibaba PuHuiTi Medium</vt:lpstr>
      <vt:lpstr>Alibaba-PuHuiTi-M</vt:lpstr>
      <vt:lpstr>Times New Roman Uni</vt:lpstr>
      <vt:lpstr>华文楷体</vt:lpstr>
      <vt:lpstr>思源黑体 Light</vt:lpstr>
      <vt:lpstr>思源黑体 Medium</vt:lpstr>
      <vt:lpstr>Apple Color Emoji</vt:lpstr>
      <vt:lpstr>第一PPT，www.1ppt.com</vt:lpstr>
      <vt:lpstr>PowerPoint 演示文稿</vt:lpstr>
      <vt:lpstr>现状与问题</vt:lpstr>
      <vt:lpstr>解决方式</vt:lpstr>
      <vt:lpstr>我们如何构建的</vt:lpstr>
      <vt:lpstr>我们所引以为豪的是</vt:lpstr>
      <vt:lpstr>商业模式</vt:lpstr>
      <vt:lpstr>团队分工</vt:lpstr>
      <vt:lpstr>后续计划</vt:lpstr>
      <vt:lpstr>我们遇到的挑战以及学习收获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赵甜甜</cp:lastModifiedBy>
  <cp:revision>35</cp:revision>
  <dcterms:created xsi:type="dcterms:W3CDTF">2026-05-24T08:36:23Z</dcterms:created>
  <dcterms:modified xsi:type="dcterms:W3CDTF">2026-05-24T08:36:23Z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1EBF04AD79FFBCDD87B8126A913858E9_43</vt:lpwstr>
  </property>
  <property fmtid="{D5CDD505-2E9C-101B-9397-08002B2CF9AE}" pid="3" name="KSOProductBuildVer">
    <vt:lpwstr>2052-7.4.0.8981</vt:lpwstr>
  </property>
</Properties>
</file>